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48BA4-3BB8-8641-8CA4-954D391B3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B1DDBB-A24E-1180-4583-A8F239DF8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0F84D0-4ACE-7B47-2502-61B88F1DB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6BEA-822A-41BA-8C3C-4558CD4CE3A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47AE23-43ED-D1A9-E76A-97235FD39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F6496-A388-47AC-163C-B2C6EB3AA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CDAD-AE0D-472A-9F3A-B7B1045A9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449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3FA3F-0D83-C0CE-12FA-7C6B15EB7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98E92A-6A4D-282A-A4FE-FA0647E3B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DD3CF1-2BA8-ADA4-D706-D468BA61C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6BEA-822A-41BA-8C3C-4558CD4CE3A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DC3452-8AED-F820-37CD-BCB80BB9B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3D9452-71E3-9F46-4D51-C94BAEB3C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CDAD-AE0D-472A-9F3A-B7B1045A9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244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F132A-C4FD-8990-4361-F6BA1C867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75D851-F251-632A-91BF-672D20DCC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582CA3-F1CE-5410-11E2-0ACFF47E2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6BEA-822A-41BA-8C3C-4558CD4CE3A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DFB889-47B9-F800-EAC9-FE6A75A8E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422FAA-7091-F9DE-CA44-59F165740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CDAD-AE0D-472A-9F3A-B7B1045A9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5757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7B5A9-2C18-6923-EBEB-B5618DBED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CED569-CDCC-AECD-F900-54585F6FDF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C4944F-BDB6-12F2-DC0B-00178A2EB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7E4BB8-B98A-B0A9-2722-DD55CBEBB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6BEA-822A-41BA-8C3C-4558CD4CE3A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BE9854-33C1-555F-2DC2-80F030EE1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95EF23-D3BB-4968-2262-39344EA1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CDAD-AE0D-472A-9F3A-B7B1045A9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2138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4C53B3-AECA-9AB0-E4D1-F9BAF874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9687B8-D436-93CA-5614-C9F1119FE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E714BA-5DAA-FEF8-A5D3-DC67E05EC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98D591D-F1F6-63C2-34C0-FDF06D8863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1B1EDC-24A4-C741-C78B-F20864A795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4795180-D9C1-68D2-ECC0-7BCC918C3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6BEA-822A-41BA-8C3C-4558CD4CE3A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B9D9CDD-BED3-DD5D-53DF-4296D8B90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AC26DB0-D758-39D4-F272-27962392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CDAD-AE0D-472A-9F3A-B7B1045A9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5799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E5ADA-0C2E-8952-1AC9-9FBF0B5A7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9BC720-CEF5-235E-EF8E-102E23C30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6BEA-822A-41BA-8C3C-4558CD4CE3A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4A88CA8-64B4-C542-727B-A0417E55B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23BD3FF-1291-628B-015D-B4A41C9E5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CDAD-AE0D-472A-9F3A-B7B1045A9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597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8F6E6D-9511-EAE4-B5DE-6479587AA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6BEA-822A-41BA-8C3C-4558CD4CE3A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6D582A-BF13-20FB-1665-81E56AF80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3EDB8F-1820-6D21-C364-4AB4CC050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CDAD-AE0D-472A-9F3A-B7B1045A9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0174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CBB7F-C255-EEF3-CC7C-7C8226F8D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26122-E5C8-29C2-453A-0E668810A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DF6746-E208-DC6C-DDCB-F9493E768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2925AA-D0E8-7109-DFD0-8D98AE42D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6BEA-822A-41BA-8C3C-4558CD4CE3A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8966FA-CF5C-9028-F144-53A27BD38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3195BB-0F3B-BA7A-A971-92B30B644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CDAD-AE0D-472A-9F3A-B7B1045A9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1551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6B173-5AAC-A578-24B6-A2AAD47A5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5A7B74-862B-44E1-CF2B-FBE9F7C45B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DA9D8D-A4D7-C68D-5CE7-B4CB40704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06B4A3-0777-5DE7-4C7D-89F72B62A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6BEA-822A-41BA-8C3C-4558CD4CE3A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7B9C08-F7D5-8DC6-AA8D-A39C87560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55D3F1-7B55-6891-257F-F7E6A457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CDAD-AE0D-472A-9F3A-B7B1045A9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765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B4436-E23D-780F-B247-237946B66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6D79F7E-58DE-9A3F-AF1A-C6B3DF474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45B615-C034-ACFE-90D3-5E0FB4C76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6BEA-822A-41BA-8C3C-4558CD4CE3A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66BACF-C657-3712-025F-7179DBFD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4F56EF-5CC0-5A97-3DA2-8C2DFC3B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CDAD-AE0D-472A-9F3A-B7B1045A9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4072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9D8770-40F1-A640-D412-AEFE12511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7FD47E-7C37-6982-6B7A-F40B83CDC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DEB1E6-0758-5C03-EB9F-2BD04405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F6BEA-822A-41BA-8C3C-4558CD4CE3A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C1673F-B40D-5FF8-C799-1C1644CFD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83B133-EA1E-6B46-EC72-7256E8577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8CDAD-AE0D-472A-9F3A-B7B1045A9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6051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3A714AE-0107-28D9-D874-3FB8B2633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76694B-2878-A490-D7F4-1D1F451C8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D97D39-A58F-0B8B-B6A8-9E0E0F33E1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FF6BEA-822A-41BA-8C3C-4558CD4CE3A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1705DB-7D42-EB86-7D70-6BC37F102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25A62B-B148-170B-9FA1-B53F5A408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8CDAD-AE0D-472A-9F3A-B7B1045A9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516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74E2D75E-6040-BF79-2013-F07EFC2642B7}"/>
              </a:ext>
            </a:extLst>
          </p:cNvPr>
          <p:cNvSpPr/>
          <p:nvPr/>
        </p:nvSpPr>
        <p:spPr>
          <a:xfrm>
            <a:off x="1524000" y="1143000"/>
            <a:ext cx="9144000" cy="4572000"/>
          </a:xfrm>
          <a:prstGeom prst="roundRect">
            <a:avLst/>
          </a:prstGeom>
          <a:solidFill>
            <a:srgbClr val="12181B"/>
          </a:solidFill>
          <a:ln w="25400">
            <a:solidFill>
              <a:srgbClr val="00E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31F61E1-CD01-8878-6D2E-82E3AE61A715}"/>
              </a:ext>
            </a:extLst>
          </p:cNvPr>
          <p:cNvSpPr txBox="1"/>
          <p:nvPr/>
        </p:nvSpPr>
        <p:spPr>
          <a:xfrm>
            <a:off x="2540000" y="1778000"/>
            <a:ext cx="711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pt-BR" sz="1400" b="1">
                <a:solidFill>
                  <a:srgbClr val="00ECFF"/>
                </a:solidFill>
                <a:latin typeface="Segoe UI" panose="020B0502040204020203" pitchFamily="34" charset="0"/>
              </a:rPr>
              <a:t>C A P R O I N   S. A.</a:t>
            </a:r>
            <a:endParaRPr lang="es-CO" sz="1400" b="1">
              <a:solidFill>
                <a:srgbClr val="00EC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BD4073A-EC2B-DA71-F8E5-65F61C0D2179}"/>
              </a:ext>
            </a:extLst>
          </p:cNvPr>
          <p:cNvSpPr txBox="1"/>
          <p:nvPr/>
        </p:nvSpPr>
        <p:spPr>
          <a:xfrm>
            <a:off x="1905000" y="2286000"/>
            <a:ext cx="8382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CO" sz="3400" b="1">
                <a:solidFill>
                  <a:srgbClr val="FFFFFF"/>
                </a:solidFill>
                <a:latin typeface="Segoe UI" panose="020B0502040204020203" pitchFamily="34" charset="0"/>
              </a:rPr>
              <a:t>REUNION GENERAL DE VENTAS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1E8EF70-9029-640A-0E13-AE0C3545ACD9}"/>
              </a:ext>
            </a:extLst>
          </p:cNvPr>
          <p:cNvSpPr/>
          <p:nvPr/>
        </p:nvSpPr>
        <p:spPr>
          <a:xfrm>
            <a:off x="3556000" y="3302000"/>
            <a:ext cx="5080000" cy="25400"/>
          </a:xfrm>
          <a:prstGeom prst="rect">
            <a:avLst/>
          </a:prstGeom>
          <a:solidFill>
            <a:srgbClr val="D226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454103B-C691-752D-7059-4950A770E276}"/>
              </a:ext>
            </a:extLst>
          </p:cNvPr>
          <p:cNvSpPr txBox="1"/>
          <p:nvPr/>
        </p:nvSpPr>
        <p:spPr>
          <a:xfrm>
            <a:off x="1905000" y="3683000"/>
            <a:ext cx="838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1400">
                <a:solidFill>
                  <a:srgbClr val="7D8B91"/>
                </a:solidFill>
                <a:latin typeface="Segoe UI" panose="020B0502040204020203" pitchFamily="34" charset="0"/>
              </a:rPr>
              <a:t>RESUMEN EJECUTIVO Y EVOLUCION HISTORICA YOY
Periodo analizado: Enero - Abril (2021 - 2026)</a:t>
            </a:r>
            <a:endParaRPr lang="es-CO" sz="1400">
              <a:solidFill>
                <a:srgbClr val="7D8B9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286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DE02D03-B29D-019A-1802-B2BA363EB90D}"/>
              </a:ext>
            </a:extLst>
          </p:cNvPr>
          <p:cNvSpPr txBox="1"/>
          <p:nvPr/>
        </p:nvSpPr>
        <p:spPr>
          <a:xfrm>
            <a:off x="508000" y="2540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s-ES" sz="2200" b="1">
                <a:solidFill>
                  <a:srgbClr val="FFFFFF"/>
                </a:solidFill>
                <a:latin typeface="Segoe UI" panose="020B0502040204020203" pitchFamily="34" charset="0"/>
              </a:rPr>
              <a:t>RESUMEN EJECUTIVO: VENTAS Y CUMPLIMIENTO</a:t>
            </a:r>
            <a:endParaRPr lang="es-CO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9FC014B-C27C-CB55-975F-0C4FE3156933}"/>
              </a:ext>
            </a:extLst>
          </p:cNvPr>
          <p:cNvSpPr txBox="1"/>
          <p:nvPr/>
        </p:nvSpPr>
        <p:spPr>
          <a:xfrm>
            <a:off x="508000" y="736600"/>
            <a:ext cx="11176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s-ES" sz="1100">
                <a:solidFill>
                  <a:srgbClr val="00ECFF"/>
                </a:solidFill>
                <a:latin typeface="Segoe UI" panose="020B0502040204020203" pitchFamily="34" charset="0"/>
              </a:rPr>
              <a:t>Ventas Acumuladas Enero - Abril 2026 vs Presupuesto e Historico 2025</a:t>
            </a:r>
            <a:endParaRPr lang="es-CO" sz="1100">
              <a:solidFill>
                <a:srgbClr val="00EC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C496CBD-FA0C-79C8-C891-553C72064DEA}"/>
              </a:ext>
            </a:extLst>
          </p:cNvPr>
          <p:cNvSpPr/>
          <p:nvPr/>
        </p:nvSpPr>
        <p:spPr>
          <a:xfrm>
            <a:off x="508000" y="1079500"/>
            <a:ext cx="11176000" cy="19050"/>
          </a:xfrm>
          <a:prstGeom prst="rect">
            <a:avLst/>
          </a:prstGeom>
          <a:solidFill>
            <a:srgbClr val="282D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ADA267A-8CED-5F59-A78D-61A021AA931C}"/>
              </a:ext>
            </a:extLst>
          </p:cNvPr>
          <p:cNvSpPr/>
          <p:nvPr/>
        </p:nvSpPr>
        <p:spPr>
          <a:xfrm>
            <a:off x="762000" y="1524000"/>
            <a:ext cx="3302000" cy="3556000"/>
          </a:xfrm>
          <a:prstGeom prst="rect">
            <a:avLst/>
          </a:prstGeom>
          <a:solidFill>
            <a:srgbClr val="12181B"/>
          </a:solidFill>
          <a:ln w="25400">
            <a:solidFill>
              <a:srgbClr val="D226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5BC16E2-6FD2-D8F9-E25B-5E0BF2502114}"/>
              </a:ext>
            </a:extLst>
          </p:cNvPr>
          <p:cNvSpPr txBox="1"/>
          <p:nvPr/>
        </p:nvSpPr>
        <p:spPr>
          <a:xfrm>
            <a:off x="952500" y="1714500"/>
            <a:ext cx="292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200" b="1">
                <a:solidFill>
                  <a:srgbClr val="7D8B91"/>
                </a:solidFill>
                <a:latin typeface="Segoe UI" panose="020B0502040204020203" pitchFamily="34" charset="0"/>
              </a:rPr>
              <a:t>VENTAS NACIONALES (CIF)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A83A126-9390-522B-9864-4FC763464AD2}"/>
              </a:ext>
            </a:extLst>
          </p:cNvPr>
          <p:cNvSpPr txBox="1"/>
          <p:nvPr/>
        </p:nvSpPr>
        <p:spPr>
          <a:xfrm>
            <a:off x="952500" y="2095500"/>
            <a:ext cx="2921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800" b="1">
                <a:solidFill>
                  <a:srgbClr val="FFFFFF"/>
                </a:solidFill>
                <a:latin typeface="Segoe UI" panose="020B0502040204020203" pitchFamily="34" charset="0"/>
              </a:rPr>
              <a:t>$0,00M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503B51E-4A04-7965-BD3D-377920D68A77}"/>
              </a:ext>
            </a:extLst>
          </p:cNvPr>
          <p:cNvSpPr txBox="1"/>
          <p:nvPr/>
        </p:nvSpPr>
        <p:spPr>
          <a:xfrm>
            <a:off x="952500" y="2857500"/>
            <a:ext cx="292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100">
                <a:solidFill>
                  <a:srgbClr val="7D8B91"/>
                </a:solidFill>
                <a:latin typeface="Segoe UI" panose="020B0502040204020203" pitchFamily="34" charset="0"/>
              </a:rPr>
              <a:t>Presupuesto: $2.912,50M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34A0930-F090-D42E-7282-E429C4DC905F}"/>
              </a:ext>
            </a:extLst>
          </p:cNvPr>
          <p:cNvSpPr txBox="1"/>
          <p:nvPr/>
        </p:nvSpPr>
        <p:spPr>
          <a:xfrm>
            <a:off x="952500" y="3365500"/>
            <a:ext cx="292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 b="1">
                <a:solidFill>
                  <a:srgbClr val="D22630"/>
                </a:solidFill>
                <a:latin typeface="Segoe UI" panose="020B0502040204020203" pitchFamily="34" charset="0"/>
              </a:rPr>
              <a:t>Cumplimiento: 0,0%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1B72D2B-DC60-AEC4-9756-6F6784C26128}"/>
              </a:ext>
            </a:extLst>
          </p:cNvPr>
          <p:cNvSpPr txBox="1"/>
          <p:nvPr/>
        </p:nvSpPr>
        <p:spPr>
          <a:xfrm>
            <a:off x="952500" y="4000500"/>
            <a:ext cx="292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100">
                <a:solidFill>
                  <a:srgbClr val="27AE60"/>
                </a:solidFill>
                <a:latin typeface="Segoe UI" panose="020B0502040204020203" pitchFamily="34" charset="0"/>
              </a:rPr>
              <a:t>YoY vs 2025: +100,0%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2A1ACEE-0D61-D235-7269-FD6C52E5622A}"/>
              </a:ext>
            </a:extLst>
          </p:cNvPr>
          <p:cNvSpPr/>
          <p:nvPr/>
        </p:nvSpPr>
        <p:spPr>
          <a:xfrm>
            <a:off x="4445000" y="1524000"/>
            <a:ext cx="3302000" cy="3556000"/>
          </a:xfrm>
          <a:prstGeom prst="rect">
            <a:avLst/>
          </a:prstGeom>
          <a:solidFill>
            <a:srgbClr val="12181B"/>
          </a:solidFill>
          <a:ln w="25400">
            <a:solidFill>
              <a:srgbClr val="FF9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67536C3-D72F-DA69-3E65-9C25DCB5932D}"/>
              </a:ext>
            </a:extLst>
          </p:cNvPr>
          <p:cNvSpPr txBox="1"/>
          <p:nvPr/>
        </p:nvSpPr>
        <p:spPr>
          <a:xfrm>
            <a:off x="4635500" y="1714500"/>
            <a:ext cx="292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200" b="1">
                <a:solidFill>
                  <a:srgbClr val="7D8B91"/>
                </a:solidFill>
                <a:latin typeface="Segoe UI" panose="020B0502040204020203" pitchFamily="34" charset="0"/>
              </a:rPr>
              <a:t>VENTAS EXPORTACION (FOB)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E9C9C9A-08CB-D948-6B32-A59C5827FDE1}"/>
              </a:ext>
            </a:extLst>
          </p:cNvPr>
          <p:cNvSpPr txBox="1"/>
          <p:nvPr/>
        </p:nvSpPr>
        <p:spPr>
          <a:xfrm>
            <a:off x="4635500" y="2095500"/>
            <a:ext cx="2921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800" b="1">
                <a:solidFill>
                  <a:srgbClr val="FFFFFF"/>
                </a:solidFill>
                <a:latin typeface="Segoe UI" panose="020B0502040204020203" pitchFamily="34" charset="0"/>
              </a:rPr>
              <a:t>$0,00M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09061BD-0D06-85B6-FE9F-506CACF5D77D}"/>
              </a:ext>
            </a:extLst>
          </p:cNvPr>
          <p:cNvSpPr txBox="1"/>
          <p:nvPr/>
        </p:nvSpPr>
        <p:spPr>
          <a:xfrm>
            <a:off x="4635500" y="2857500"/>
            <a:ext cx="292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100">
                <a:solidFill>
                  <a:srgbClr val="7D8B91"/>
                </a:solidFill>
                <a:latin typeface="Segoe UI" panose="020B0502040204020203" pitchFamily="34" charset="0"/>
              </a:rPr>
              <a:t>Presupuesto: $482,31M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DE91069-699F-64CA-A184-CCDBA4C6C722}"/>
              </a:ext>
            </a:extLst>
          </p:cNvPr>
          <p:cNvSpPr txBox="1"/>
          <p:nvPr/>
        </p:nvSpPr>
        <p:spPr>
          <a:xfrm>
            <a:off x="4635500" y="3365500"/>
            <a:ext cx="292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 b="1">
                <a:solidFill>
                  <a:srgbClr val="D22630"/>
                </a:solidFill>
                <a:latin typeface="Segoe UI" panose="020B0502040204020203" pitchFamily="34" charset="0"/>
              </a:rPr>
              <a:t>Cumplimiento: 0,0%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AD16A29-6E0C-B7A1-0DE7-AB06C9A9A225}"/>
              </a:ext>
            </a:extLst>
          </p:cNvPr>
          <p:cNvSpPr txBox="1"/>
          <p:nvPr/>
        </p:nvSpPr>
        <p:spPr>
          <a:xfrm>
            <a:off x="4635500" y="4000500"/>
            <a:ext cx="292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100">
                <a:solidFill>
                  <a:srgbClr val="27AE60"/>
                </a:solidFill>
                <a:latin typeface="Segoe UI" panose="020B0502040204020203" pitchFamily="34" charset="0"/>
              </a:rPr>
              <a:t>YoY vs 2025: +100,0%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8CA0C44-DAB6-15FE-223F-3134DABAAD57}"/>
              </a:ext>
            </a:extLst>
          </p:cNvPr>
          <p:cNvSpPr/>
          <p:nvPr/>
        </p:nvSpPr>
        <p:spPr>
          <a:xfrm>
            <a:off x="8128000" y="1524000"/>
            <a:ext cx="3302000" cy="3556000"/>
          </a:xfrm>
          <a:prstGeom prst="rect">
            <a:avLst/>
          </a:prstGeom>
          <a:solidFill>
            <a:srgbClr val="12181B"/>
          </a:solidFill>
          <a:ln w="25400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EF0CF51-CB8B-B540-2D22-AD638032444B}"/>
              </a:ext>
            </a:extLst>
          </p:cNvPr>
          <p:cNvSpPr txBox="1"/>
          <p:nvPr/>
        </p:nvSpPr>
        <p:spPr>
          <a:xfrm>
            <a:off x="8318500" y="1714500"/>
            <a:ext cx="2921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200" b="1">
                <a:solidFill>
                  <a:srgbClr val="7D8B91"/>
                </a:solidFill>
                <a:latin typeface="Segoe UI" panose="020B0502040204020203" pitchFamily="34" charset="0"/>
              </a:rPr>
              <a:t>VENTA GLOBAL CONSOLIDADA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C5011EB-A465-C532-72CE-0B540F342366}"/>
              </a:ext>
            </a:extLst>
          </p:cNvPr>
          <p:cNvSpPr txBox="1"/>
          <p:nvPr/>
        </p:nvSpPr>
        <p:spPr>
          <a:xfrm>
            <a:off x="8318500" y="2095500"/>
            <a:ext cx="2921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2800" b="1">
                <a:solidFill>
                  <a:srgbClr val="FFFFFF"/>
                </a:solidFill>
                <a:latin typeface="Segoe UI" panose="020B0502040204020203" pitchFamily="34" charset="0"/>
              </a:rPr>
              <a:t>$0,00M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2500548-9C68-333E-A106-E06CB69E098C}"/>
              </a:ext>
            </a:extLst>
          </p:cNvPr>
          <p:cNvSpPr txBox="1"/>
          <p:nvPr/>
        </p:nvSpPr>
        <p:spPr>
          <a:xfrm>
            <a:off x="8318500" y="2857500"/>
            <a:ext cx="292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100">
                <a:solidFill>
                  <a:srgbClr val="7D8B91"/>
                </a:solidFill>
                <a:latin typeface="Segoe UI" panose="020B0502040204020203" pitchFamily="34" charset="0"/>
              </a:rPr>
              <a:t>Presupuesto: $3.394,82M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B294CE7-2C99-35AD-94C1-2157225500CE}"/>
              </a:ext>
            </a:extLst>
          </p:cNvPr>
          <p:cNvSpPr txBox="1"/>
          <p:nvPr/>
        </p:nvSpPr>
        <p:spPr>
          <a:xfrm>
            <a:off x="8318500" y="3365500"/>
            <a:ext cx="292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600" b="1">
                <a:solidFill>
                  <a:srgbClr val="D22630"/>
                </a:solidFill>
                <a:latin typeface="Segoe UI" panose="020B0502040204020203" pitchFamily="34" charset="0"/>
              </a:rPr>
              <a:t>Cumplimiento: 0,0%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5A6FEF9-EEF4-D2DD-CB5D-68E5075470F3}"/>
              </a:ext>
            </a:extLst>
          </p:cNvPr>
          <p:cNvSpPr txBox="1"/>
          <p:nvPr/>
        </p:nvSpPr>
        <p:spPr>
          <a:xfrm>
            <a:off x="8318500" y="4000500"/>
            <a:ext cx="292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CO" sz="1100">
                <a:solidFill>
                  <a:srgbClr val="27AE60"/>
                </a:solidFill>
                <a:latin typeface="Segoe UI" panose="020B0502040204020203" pitchFamily="34" charset="0"/>
              </a:rPr>
              <a:t>YoY vs 2025: +100,0%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982E384-82D6-10C8-807F-67B7F7FA4F11}"/>
              </a:ext>
            </a:extLst>
          </p:cNvPr>
          <p:cNvSpPr txBox="1"/>
          <p:nvPr/>
        </p:nvSpPr>
        <p:spPr>
          <a:xfrm>
            <a:off x="762000" y="5334000"/>
            <a:ext cx="1066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1300" b="1">
                <a:solidFill>
                  <a:srgbClr val="D22630"/>
                </a:solidFill>
                <a:latin typeface="Segoe UI" panose="020B0502040204020203" pitchFamily="34" charset="0"/>
              </a:rPr>
              <a:t>Margen Bruto Promedio Venta Nacional (CIF): 0,0%  |  Bajo Meta (&lt;30%)</a:t>
            </a:r>
            <a:endParaRPr lang="es-CO" sz="1300" b="1">
              <a:solidFill>
                <a:srgbClr val="D2263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761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C8BACFA-0BED-8600-82B8-BA4E2A7B3B49}"/>
              </a:ext>
            </a:extLst>
          </p:cNvPr>
          <p:cNvSpPr txBox="1"/>
          <p:nvPr/>
        </p:nvSpPr>
        <p:spPr>
          <a:xfrm>
            <a:off x="508000" y="2540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s-CO" sz="2200" b="1">
                <a:solidFill>
                  <a:srgbClr val="FFFFFF"/>
                </a:solidFill>
                <a:latin typeface="Segoe UI" panose="020B0502040204020203" pitchFamily="34" charset="0"/>
              </a:rPr>
              <a:t>DESGLOSE OPERATIVO MENSUAL (2026)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D5D4BB1-9191-42E0-C41B-CA019F0AEA04}"/>
              </a:ext>
            </a:extLst>
          </p:cNvPr>
          <p:cNvSpPr txBox="1"/>
          <p:nvPr/>
        </p:nvSpPr>
        <p:spPr>
          <a:xfrm>
            <a:off x="508000" y="736600"/>
            <a:ext cx="11176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s-ES" sz="1100">
                <a:solidFill>
                  <a:srgbClr val="00ECFF"/>
                </a:solidFill>
                <a:latin typeface="Segoe UI" panose="020B0502040204020203" pitchFamily="34" charset="0"/>
              </a:rPr>
              <a:t>Facturacion Detallada por Mes y Evolucion de Cumplimiento y Margen</a:t>
            </a:r>
            <a:endParaRPr lang="es-CO" sz="1100">
              <a:solidFill>
                <a:srgbClr val="00EC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254C8B9-25F5-C022-BDBF-6D2D158924CA}"/>
              </a:ext>
            </a:extLst>
          </p:cNvPr>
          <p:cNvSpPr/>
          <p:nvPr/>
        </p:nvSpPr>
        <p:spPr>
          <a:xfrm>
            <a:off x="508000" y="1079500"/>
            <a:ext cx="11176000" cy="19050"/>
          </a:xfrm>
          <a:prstGeom prst="rect">
            <a:avLst/>
          </a:prstGeom>
          <a:solidFill>
            <a:srgbClr val="282D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DD82C20-B98B-34E1-F1BD-37D19C7BAC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532688"/>
              </p:ext>
            </p:extLst>
          </p:nvPr>
        </p:nvGraphicFramePr>
        <p:xfrm>
          <a:off x="762000" y="1397000"/>
          <a:ext cx="1066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9350360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745202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7844086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56743430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97330243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91531528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722473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Mes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Venta CIF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Venta FOB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Venta Total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Ppto Total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% Cump.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Margen CIF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68118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Enero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$848,70M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0,0%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0,0%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14859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Febrero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$848,70M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0,0%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0,0%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16913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Marzo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$848,70M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0,0%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0,0%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9254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Abril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$848,70M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0,0%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0,0%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41328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Total Acum.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$3.394,82M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0,0%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0,0%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724591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0EFBF44E-333D-5BB4-DDEA-509705FCA390}"/>
              </a:ext>
            </a:extLst>
          </p:cNvPr>
          <p:cNvSpPr txBox="1"/>
          <p:nvPr/>
        </p:nvSpPr>
        <p:spPr>
          <a:xfrm>
            <a:off x="762000" y="4953000"/>
            <a:ext cx="10668000" cy="787395"/>
          </a:xfrm>
          <a:prstGeom prst="rect">
            <a:avLst/>
          </a:prstGeom>
          <a:noFill/>
        </p:spPr>
        <p:txBody>
          <a:bodyPr vert="horz" lIns="127000" tIns="6350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Segoe UI" panose="020B0502040204020203" pitchFamily="34" charset="0"/>
              </a:rPr>
              <a:t>Observaciones Operativas del Periodo 2026:
â€¢ Febrero registro el mayor volumen de facturacion consolidada del periodo con $0,00M y un cumplimiento del 0,0%.
â€¢ Abril se consolido como el mes con mayor rentabilidad en ventas nacionales (CIF), alcanzando un margen bruto del 0,0%.
â€¢ La facturacion acumulada consolidada CIF+FOB de $0,00M representa un cumplimiento del 0,0% sobre la meta semestralizada.</a:t>
            </a:r>
            <a:endParaRPr lang="es-CO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411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3B6FCC0-B81D-2722-FC29-837FD62DFEBB}"/>
              </a:ext>
            </a:extLst>
          </p:cNvPr>
          <p:cNvSpPr txBox="1"/>
          <p:nvPr/>
        </p:nvSpPr>
        <p:spPr>
          <a:xfrm>
            <a:off x="508000" y="2540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2200" b="1">
                <a:solidFill>
                  <a:srgbClr val="FFFFFF"/>
                </a:solidFill>
                <a:latin typeface="Segoe UI" panose="020B0502040204020203" pitchFamily="34" charset="0"/>
              </a:rPr>
              <a:t>HISTORICO COMPARATIVO ANUAL (2021 - 2026)</a:t>
            </a:r>
            <a:endParaRPr lang="es-CO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3B8EF48-3668-02E9-FB03-C7C265DF5082}"/>
              </a:ext>
            </a:extLst>
          </p:cNvPr>
          <p:cNvSpPr txBox="1"/>
          <p:nvPr/>
        </p:nvSpPr>
        <p:spPr>
          <a:xfrm>
            <a:off x="508000" y="736600"/>
            <a:ext cx="11176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100">
                <a:solidFill>
                  <a:srgbClr val="00ECFF"/>
                </a:solidFill>
                <a:latin typeface="Segoe UI" panose="020B0502040204020203" pitchFamily="34" charset="0"/>
              </a:rPr>
              <a:t>Ventas Consolidadas CIF+FOB Acumuladas a Abril de Cada Ano</a:t>
            </a:r>
            <a:endParaRPr lang="es-CO" sz="1100">
              <a:solidFill>
                <a:srgbClr val="00EC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0D3EDE6-54E8-E7AE-7CAD-F7868F18918E}"/>
              </a:ext>
            </a:extLst>
          </p:cNvPr>
          <p:cNvSpPr/>
          <p:nvPr/>
        </p:nvSpPr>
        <p:spPr>
          <a:xfrm>
            <a:off x="508000" y="1079500"/>
            <a:ext cx="11176000" cy="19050"/>
          </a:xfrm>
          <a:prstGeom prst="rect">
            <a:avLst/>
          </a:prstGeom>
          <a:solidFill>
            <a:srgbClr val="282D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512CE81-293C-77A1-B597-9597A3BAE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997097"/>
              </p:ext>
            </p:extLst>
          </p:nvPr>
        </p:nvGraphicFramePr>
        <p:xfrm>
          <a:off x="762000" y="1524000"/>
          <a:ext cx="1066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89324908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8474766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59406881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22214143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5018923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8011976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057706848"/>
                    </a:ext>
                  </a:extLst>
                </a:gridCol>
              </a:tblGrid>
              <a:tr h="435429"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Ano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Enero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Febrero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Marzo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Abril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Total Periodo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Var. YoY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6747395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2021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Base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779980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2022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+0,0%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940426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2023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+0,0%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715310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2024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+0,0%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808620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2025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+0,0%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151848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r>
                        <a:rPr lang="es-CO" sz="900" b="1">
                          <a:solidFill>
                            <a:srgbClr val="D22630"/>
                          </a:solidFill>
                          <a:latin typeface="Segoe UI" panose="020B0502040204020203" pitchFamily="34" charset="0"/>
                        </a:rPr>
                        <a:t>2026</a:t>
                      </a:r>
                    </a:p>
                  </a:txBody>
                  <a:tcPr marL="76200" marR="76200" marT="50800" marB="50800" anchor="ctr">
                    <a:solidFill>
                      <a:srgbClr val="2D0F1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2D0F1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2D0F1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2D0F1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2D0F1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2D0F1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+0,0%</a:t>
                      </a:r>
                    </a:p>
                  </a:txBody>
                  <a:tcPr marL="76200" marR="76200" marT="50800" marB="50800" anchor="ctr">
                    <a:solidFill>
                      <a:srgbClr val="2D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19454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6044CF66-B6E0-21B7-84ED-DB3B6D9D2050}"/>
              </a:ext>
            </a:extLst>
          </p:cNvPr>
          <p:cNvSpPr txBox="1"/>
          <p:nvPr/>
        </p:nvSpPr>
        <p:spPr>
          <a:xfrm>
            <a:off x="762000" y="5016500"/>
            <a:ext cx="10668000" cy="787395"/>
          </a:xfrm>
          <a:prstGeom prst="rect">
            <a:avLst/>
          </a:prstGeom>
          <a:noFill/>
        </p:spPr>
        <p:txBody>
          <a:bodyPr vert="horz" lIns="127000" tIns="6350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Segoe UI" panose="020B0502040204020203" pitchFamily="34" charset="0"/>
              </a:rPr>
              <a:t>Destacado de Evolucion Anual YoY:
â€¢ El ano 2026 registra una facturacion consolidada en el primer cuatrimestre de $0,00M, superando en un 0,0% al periodo 2025.
â€¢ Se observa una tendencia de recuperacion constante tras la caida del mercado experimentada en el ano 2024.
â€¢ La tasa de crecimiento compuesto acumulada indica un incremento sostenido de ventas a doble digito para clientes clave.</a:t>
            </a:r>
            <a:endParaRPr lang="es-CO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791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142D3CE-7987-AAF1-EEB9-6742E4793FE1}"/>
              </a:ext>
            </a:extLst>
          </p:cNvPr>
          <p:cNvSpPr txBox="1"/>
          <p:nvPr/>
        </p:nvSpPr>
        <p:spPr>
          <a:xfrm>
            <a:off x="508000" y="2540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s-CO" sz="2200" b="1">
                <a:solidFill>
                  <a:srgbClr val="FFFFFF"/>
                </a:solidFill>
                <a:latin typeface="Segoe UI" panose="020B0502040204020203" pitchFamily="34" charset="0"/>
              </a:rPr>
              <a:t>ANÃLISIS DE CLIENTES TOP 20 YOY (2021 - 2026)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9CE91FC-9391-1DA6-0DD2-F8C99071C622}"/>
              </a:ext>
            </a:extLst>
          </p:cNvPr>
          <p:cNvSpPr txBox="1"/>
          <p:nvPr/>
        </p:nvSpPr>
        <p:spPr>
          <a:xfrm>
            <a:off x="508000" y="736600"/>
            <a:ext cx="11176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s-CO" sz="1100">
                <a:solidFill>
                  <a:srgbClr val="00ECFF"/>
                </a:solidFill>
                <a:latin typeface="Segoe UI" panose="020B0502040204020203" pitchFamily="34" charset="0"/>
              </a:rPr>
              <a:t>Facturacion Historica Anual Acumulada Enero - Abril por Cliente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C92B5B4-2913-6CC5-C0A9-1B9F413E55D5}"/>
              </a:ext>
            </a:extLst>
          </p:cNvPr>
          <p:cNvSpPr/>
          <p:nvPr/>
        </p:nvSpPr>
        <p:spPr>
          <a:xfrm>
            <a:off x="508000" y="1079500"/>
            <a:ext cx="11176000" cy="19050"/>
          </a:xfrm>
          <a:prstGeom prst="rect">
            <a:avLst/>
          </a:prstGeom>
          <a:solidFill>
            <a:srgbClr val="282D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842E38A-DF5D-43DD-589A-1D61FF299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149415"/>
              </p:ext>
            </p:extLst>
          </p:nvPr>
        </p:nvGraphicFramePr>
        <p:xfrm>
          <a:off x="508000" y="1333500"/>
          <a:ext cx="11176000" cy="495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905320516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82084947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15804017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53011303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561198897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89454207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7655933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1268718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267726213"/>
                    </a:ext>
                  </a:extLst>
                </a:gridCol>
              </a:tblGrid>
              <a:tr h="235857"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NÂ°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Cliente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2021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2022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2023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2024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2025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2026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Var. YoY %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469472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214274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2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129014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15257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4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736650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349425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6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700611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7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456906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8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265339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9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717839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10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444230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11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062833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12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985562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13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075571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14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301056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15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975397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16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107609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17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616043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18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09846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19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273480"/>
                  </a:ext>
                </a:extLst>
              </a:tr>
              <a:tr h="235857">
                <a:tc>
                  <a:txBody>
                    <a:bodyPr/>
                    <a:lstStyle/>
                    <a:p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20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O" sz="75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$0,00M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O" sz="75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N/A</a:t>
                      </a: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619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92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6E88978-0946-8D50-6642-17E099FD5EDC}"/>
              </a:ext>
            </a:extLst>
          </p:cNvPr>
          <p:cNvSpPr txBox="1"/>
          <p:nvPr/>
        </p:nvSpPr>
        <p:spPr>
          <a:xfrm>
            <a:off x="508000" y="2540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s-ES" sz="2200" b="1">
                <a:solidFill>
                  <a:srgbClr val="FFFFFF"/>
                </a:solidFill>
                <a:latin typeface="Segoe UI" panose="020B0502040204020203" pitchFamily="34" charset="0"/>
              </a:rPr>
              <a:t>ANÃLISIS DE MARCAS Y RENTABILIDAD (CIF)</a:t>
            </a:r>
            <a:endParaRPr lang="es-CO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111C401-0D2E-DF4C-9460-34B035B79413}"/>
              </a:ext>
            </a:extLst>
          </p:cNvPr>
          <p:cNvSpPr txBox="1"/>
          <p:nvPr/>
        </p:nvSpPr>
        <p:spPr>
          <a:xfrm>
            <a:off x="508000" y="736600"/>
            <a:ext cx="11176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s-ES" sz="1100">
                <a:solidFill>
                  <a:srgbClr val="00ECFF"/>
                </a:solidFill>
                <a:latin typeface="Segoe UI" panose="020B0502040204020203" pitchFamily="34" charset="0"/>
              </a:rPr>
              <a:t>Ranking de Venta Nacional y Margen Bruto Enero - Abril 2026 vs 2025</a:t>
            </a:r>
            <a:endParaRPr lang="es-CO" sz="1100">
              <a:solidFill>
                <a:srgbClr val="00EC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BB2A21C-4887-0AA7-7A3F-07547029755D}"/>
              </a:ext>
            </a:extLst>
          </p:cNvPr>
          <p:cNvSpPr/>
          <p:nvPr/>
        </p:nvSpPr>
        <p:spPr>
          <a:xfrm>
            <a:off x="508000" y="1079500"/>
            <a:ext cx="11176000" cy="19050"/>
          </a:xfrm>
          <a:prstGeom prst="rect">
            <a:avLst/>
          </a:prstGeom>
          <a:solidFill>
            <a:srgbClr val="282D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FCB03CC-7964-6507-46E7-42F1E2CED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61491"/>
              </p:ext>
            </p:extLst>
          </p:nvPr>
        </p:nvGraphicFramePr>
        <p:xfrm>
          <a:off x="508000" y="1397000"/>
          <a:ext cx="7112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101716783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311597088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1348782195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345600126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4177115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Marca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Venta 2025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Venta 2026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Var. YoY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0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Margen 26%</a:t>
                      </a:r>
                    </a:p>
                  </a:txBody>
                  <a:tcPr marL="76200" marR="76200" marT="50800" marB="50800" anchor="ctr">
                    <a:solidFill>
                      <a:srgbClr val="282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5104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96179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86381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74524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53334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72098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94297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48107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36127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66548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37294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9717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31885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61991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A20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76385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s-CO" sz="80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76200" marR="76200" marT="50800" marB="50800" anchor="ctr">
                    <a:solidFill>
                      <a:srgbClr val="12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356958"/>
                  </a:ext>
                </a:extLst>
              </a:tr>
            </a:tbl>
          </a:graphicData>
        </a:graphic>
      </p:graphicFrame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58E5C4E-B889-4773-E687-0008B17C28CE}"/>
              </a:ext>
            </a:extLst>
          </p:cNvPr>
          <p:cNvSpPr/>
          <p:nvPr/>
        </p:nvSpPr>
        <p:spPr>
          <a:xfrm>
            <a:off x="7874000" y="1397000"/>
            <a:ext cx="3810000" cy="4572000"/>
          </a:xfrm>
          <a:prstGeom prst="roundRect">
            <a:avLst/>
          </a:prstGeom>
          <a:solidFill>
            <a:srgbClr val="12181B"/>
          </a:solidFill>
          <a:ln w="19050">
            <a:solidFill>
              <a:srgbClr val="282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01C82D0-3EE9-04A4-F7CA-DCA5E89C97DC}"/>
              </a:ext>
            </a:extLst>
          </p:cNvPr>
          <p:cNvSpPr txBox="1"/>
          <p:nvPr/>
        </p:nvSpPr>
        <p:spPr>
          <a:xfrm>
            <a:off x="8001000" y="1524000"/>
            <a:ext cx="3556000" cy="2292935"/>
          </a:xfrm>
          <a:prstGeom prst="rect">
            <a:avLst/>
          </a:prstGeom>
          <a:noFill/>
        </p:spPr>
        <p:txBody>
          <a:bodyPr vert="horz" lIns="63500" tIns="63500" rtlCol="0">
            <a:spAutoFit/>
          </a:bodyPr>
          <a:lstStyle/>
          <a:p>
            <a:r>
              <a:rPr lang="es-ES" sz="1100">
                <a:solidFill>
                  <a:srgbClr val="FFFFFF"/>
                </a:solidFill>
                <a:latin typeface="Segoe UI" panose="020B0502040204020203" pitchFamily="34" charset="0"/>
              </a:rPr>
              <a:t>Analisis de Portafolio de Marcas:
â€¢ REXNORD consolida su liderazgo como la marca de mayor volumen operativo con $0,00M en el periodo 2026, sosteniendo una excelente rentabilidad del %.
â€¢ Destaca la marca  en el segundo puesto, logrando ventas de $0,00M.
â€¢ Se observa una oportunidad importante de control de costos en marcas secundarias cuyo margen bruto se situa por debajo de la meta del 30%.</a:t>
            </a:r>
            <a:endParaRPr lang="es-CO" sz="11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343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38C61D6-7FD4-CF37-45C3-440A0F98E226}"/>
              </a:ext>
            </a:extLst>
          </p:cNvPr>
          <p:cNvSpPr txBox="1"/>
          <p:nvPr/>
        </p:nvSpPr>
        <p:spPr>
          <a:xfrm>
            <a:off x="508000" y="2540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s-ES" sz="2200" b="1">
                <a:solidFill>
                  <a:srgbClr val="FFFFFF"/>
                </a:solidFill>
                <a:latin typeface="Segoe UI" panose="020B0502040204020203" pitchFamily="34" charset="0"/>
              </a:rPr>
              <a:t>SEGMENTACION BCG DE CLIENTES Y PARETO DE MARCAS</a:t>
            </a:r>
            <a:endParaRPr lang="es-CO" sz="22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6A54825-7F9D-1276-AEF1-8A81BB299799}"/>
              </a:ext>
            </a:extLst>
          </p:cNvPr>
          <p:cNvSpPr txBox="1"/>
          <p:nvPr/>
        </p:nvSpPr>
        <p:spPr>
          <a:xfrm>
            <a:off x="508000" y="736600"/>
            <a:ext cx="11176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s-ES" sz="1100">
                <a:solidFill>
                  <a:srgbClr val="00ECFF"/>
                </a:solidFill>
                <a:latin typeface="Segoe UI" panose="020B0502040204020203" pitchFamily="34" charset="0"/>
              </a:rPr>
              <a:t>Analisis Avanzado de Rentabilidad de Clientes (BCG Scatter) y Acumulacion de Margen</a:t>
            </a:r>
            <a:endParaRPr lang="es-CO" sz="1100">
              <a:solidFill>
                <a:srgbClr val="00EC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572AFE-6DBA-050A-1437-8546836E7D75}"/>
              </a:ext>
            </a:extLst>
          </p:cNvPr>
          <p:cNvSpPr/>
          <p:nvPr/>
        </p:nvSpPr>
        <p:spPr>
          <a:xfrm>
            <a:off x="508000" y="1079500"/>
            <a:ext cx="11176000" cy="19050"/>
          </a:xfrm>
          <a:prstGeom prst="rect">
            <a:avLst/>
          </a:prstGeom>
          <a:solidFill>
            <a:srgbClr val="282D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37280AF-E021-2850-A2E6-9425F214520F}"/>
              </a:ext>
            </a:extLst>
          </p:cNvPr>
          <p:cNvSpPr/>
          <p:nvPr/>
        </p:nvSpPr>
        <p:spPr>
          <a:xfrm>
            <a:off x="762000" y="1397000"/>
            <a:ext cx="5207000" cy="4635500"/>
          </a:xfrm>
          <a:prstGeom prst="roundRect">
            <a:avLst/>
          </a:prstGeom>
          <a:solidFill>
            <a:srgbClr val="12181B"/>
          </a:solidFill>
          <a:ln w="19050">
            <a:solidFill>
              <a:srgbClr val="282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C41870-E252-CD8F-18D7-5C6BF2E769BD}"/>
              </a:ext>
            </a:extLst>
          </p:cNvPr>
          <p:cNvSpPr txBox="1"/>
          <p:nvPr/>
        </p:nvSpPr>
        <p:spPr>
          <a:xfrm>
            <a:off x="889000" y="1524000"/>
            <a:ext cx="495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200" b="1">
                <a:solidFill>
                  <a:srgbClr val="00ECFF"/>
                </a:solidFill>
                <a:latin typeface="Segoe UI" panose="020B0502040204020203" pitchFamily="34" charset="0"/>
              </a:rPr>
              <a:t>SEGMENTACION DE CLIENTES CLAVE (BCG)</a:t>
            </a:r>
            <a:endParaRPr lang="es-CO" sz="1200" b="1">
              <a:solidFill>
                <a:srgbClr val="00EC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6BFCAE1-85AB-9FD2-DD5A-DF24E149716C}"/>
              </a:ext>
            </a:extLst>
          </p:cNvPr>
          <p:cNvSpPr txBox="1"/>
          <p:nvPr/>
        </p:nvSpPr>
        <p:spPr>
          <a:xfrm>
            <a:off x="889000" y="1968500"/>
            <a:ext cx="4953000" cy="219290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50">
                <a:solidFill>
                  <a:srgbClr val="FFFFFF"/>
                </a:solidFill>
                <a:latin typeface="Segoe UI" panose="020B0502040204020203" pitchFamily="34" charset="0"/>
              </a:rPr>
              <a:t>Clasificacion de Clientes (Venta CIF &gt; 500K):
</a:t>
            </a:r>
            <a:r>
              <a:rPr lang="es-ES" sz="1050" b="1">
                <a:solidFill>
                  <a:srgbClr val="27AE60"/>
                </a:solidFill>
                <a:latin typeface="Segoe UI" panose="020B0502040204020203" pitchFamily="34" charset="0"/>
              </a:rPr>
              <a:t>ESTRELLAS</a:t>
            </a:r>
            <a:r>
              <a:rPr lang="es-ES" sz="1050">
                <a:solidFill>
                  <a:srgbClr val="FFFFFF"/>
                </a:solidFill>
                <a:latin typeface="Segoe UI" panose="020B0502040204020203" pitchFamily="34" charset="0"/>
              </a:rPr>
              <a:t> (Alto Volumen y Alto Margen):
  Ninguno
</a:t>
            </a:r>
            <a:r>
              <a:rPr lang="es-ES" sz="1050" b="1">
                <a:solidFill>
                  <a:srgbClr val="D22630"/>
                </a:solidFill>
                <a:latin typeface="Segoe UI" panose="020B0502040204020203" pitchFamily="34" charset="0"/>
              </a:rPr>
              <a:t>VOLUMEN</a:t>
            </a:r>
            <a:r>
              <a:rPr lang="es-ES" sz="1050">
                <a:solidFill>
                  <a:srgbClr val="FFFFFF"/>
                </a:solidFill>
                <a:latin typeface="Segoe UI" panose="020B0502040204020203" pitchFamily="34" charset="0"/>
              </a:rPr>
              <a:t> (Alto Volumen y Bajo Margen):
  Ninguno
</a:t>
            </a:r>
            <a:r>
              <a:rPr lang="es-ES" sz="1050" b="1">
                <a:solidFill>
                  <a:srgbClr val="FF9D00"/>
                </a:solidFill>
                <a:latin typeface="Segoe UI" panose="020B0502040204020203" pitchFamily="34" charset="0"/>
              </a:rPr>
              <a:t>NICHO</a:t>
            </a:r>
            <a:r>
              <a:rPr lang="es-ES" sz="1050">
                <a:solidFill>
                  <a:srgbClr val="FFFFFF"/>
                </a:solidFill>
                <a:latin typeface="Segoe UI" panose="020B0502040204020203" pitchFamily="34" charset="0"/>
              </a:rPr>
              <a:t> (Bajo Volumen y Alto Margen):
  Ninguno
</a:t>
            </a:r>
            <a:r>
              <a:rPr lang="es-ES" sz="1050" b="1">
                <a:solidFill>
                  <a:srgbClr val="7D8B91"/>
                </a:solidFill>
                <a:latin typeface="Segoe UI" panose="020B0502040204020203" pitchFamily="34" charset="0"/>
              </a:rPr>
              <a:t>REVISAR</a:t>
            </a:r>
            <a:r>
              <a:rPr lang="es-ES" sz="1050">
                <a:solidFill>
                  <a:srgbClr val="FFFFFF"/>
                </a:solidFill>
                <a:latin typeface="Segoe UI" panose="020B0502040204020203" pitchFamily="34" charset="0"/>
              </a:rPr>
              <a:t> (Bajo Volumen y Bajo Margen):
  Ninguno</a:t>
            </a:r>
            <a:endParaRPr lang="es-CO" sz="10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1CE5786-EE4C-A3F3-FFCD-DAF1FCA07D46}"/>
              </a:ext>
            </a:extLst>
          </p:cNvPr>
          <p:cNvSpPr/>
          <p:nvPr/>
        </p:nvSpPr>
        <p:spPr>
          <a:xfrm>
            <a:off x="6223000" y="1397000"/>
            <a:ext cx="5207000" cy="4635500"/>
          </a:xfrm>
          <a:prstGeom prst="roundRect">
            <a:avLst/>
          </a:prstGeom>
          <a:solidFill>
            <a:srgbClr val="12181B"/>
          </a:solidFill>
          <a:ln w="19050">
            <a:solidFill>
              <a:srgbClr val="282D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3C38C4B-B8E2-41B0-3D08-CE70D459AEC8}"/>
              </a:ext>
            </a:extLst>
          </p:cNvPr>
          <p:cNvSpPr txBox="1"/>
          <p:nvPr/>
        </p:nvSpPr>
        <p:spPr>
          <a:xfrm>
            <a:off x="6350000" y="1524000"/>
            <a:ext cx="4953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200" b="1">
                <a:solidFill>
                  <a:srgbClr val="00ECFF"/>
                </a:solidFill>
                <a:latin typeface="Segoe UI" panose="020B0502040204020203" pitchFamily="34" charset="0"/>
              </a:rPr>
              <a:t>PARETO DE MARCAS (CONCENTRACION DEL MARGEN)</a:t>
            </a:r>
            <a:endParaRPr lang="es-CO" sz="1200" b="1">
              <a:solidFill>
                <a:srgbClr val="00EC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12D5CC3-F28F-6B5E-F7F7-6F697F919717}"/>
              </a:ext>
            </a:extLst>
          </p:cNvPr>
          <p:cNvSpPr txBox="1"/>
          <p:nvPr/>
        </p:nvSpPr>
        <p:spPr>
          <a:xfrm>
            <a:off x="6350000" y="1968500"/>
            <a:ext cx="4953000" cy="122341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50">
                <a:solidFill>
                  <a:srgbClr val="FFFFFF"/>
                </a:solidFill>
                <a:latin typeface="Segoe UI" panose="020B0502040204020203" pitchFamily="34" charset="0"/>
              </a:rPr>
              <a:t>Marcas que concentran el 80% del margen total acumulado:
Analisis de Pareto:
Se evidencia una alta concentracion de rentabilidad. Las primeras 0 marcas acumulan el 80% de la utilidad bruta. Esto permite enfocar los esfuerzos comerciales y de negociacion de costos en estas lineas prioritarias.</a:t>
            </a:r>
            <a:endParaRPr lang="es-CO" sz="10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4364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1125</Words>
  <Application>Microsoft Office PowerPoint</Application>
  <PresentationFormat>Personalizado</PresentationFormat>
  <Paragraphs>303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Pablo Loaiza Rodriguez</dc:creator>
  <cp:lastModifiedBy>Juan Pablo Loaiza Rodriguez</cp:lastModifiedBy>
  <cp:revision>1</cp:revision>
  <dcterms:created xsi:type="dcterms:W3CDTF">2026-05-27T21:30:47Z</dcterms:created>
  <dcterms:modified xsi:type="dcterms:W3CDTF">2026-05-27T21:30:51Z</dcterms:modified>
</cp:coreProperties>
</file>